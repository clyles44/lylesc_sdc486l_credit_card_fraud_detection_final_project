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2330350"/>
            <a:ext cx="35623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50519" y="2816125"/>
            <a:ext cx="7690961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Credit Card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1300" y="3641824"/>
            <a:ext cx="6629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An End-to-End Machine Learning &amp; Deep Learning Predictive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4887" y="4327624"/>
            <a:ext cx="25622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 Medium"/>
              </a:rPr>
              <a:t>Prepared by: Christopher Lyles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1940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00725" y="3086100"/>
            <a:ext cx="439054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3237" y="3867150"/>
            <a:ext cx="61055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Mitigating Financial Risk through Predictive Intelligence &amp;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0762"/>
            <a:ext cx="5334000" cy="2933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90762"/>
            <a:ext cx="5334000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605087"/>
            <a:ext cx="49406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563EB"/>
                </a:solidFill>
                <a:latin typeface="Plus Jakarta Sans SemiBold"/>
              </a:rPr>
              <a:t>Objective &amp;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2967037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Primary Goal: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Build a high-precision predictive model to detect unauthorized credit card transactions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4705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Dataset Characteristics: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Benchmark Credit Card Fraud dataset containing anonymized numerical PCA features (V1-V28), transaction Amount, and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338637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Class Imbalance: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Highly skewed distribution (~0.17% fraud rate), requiring specialized sampling and metric selection.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605087"/>
            <a:ext cx="49406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563EB"/>
                </a:solidFill>
                <a:latin typeface="Plus Jakarta Sans SemiBold"/>
              </a:rPr>
              <a:t>Methodology &amp;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2967037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Baseline Models: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Logistic Regression and Random Forest classifiers established as performance baselines.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538537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Deep Learning Architecture: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TensorFlow/Keras neural networks deployed to capture non-linear feature relations.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110037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Interactive Analytics: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Power BI dashboard developed for scenario testing and operational decision support.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Executive Summary &amp;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Data Preparation Strategy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33475"/>
            <a:ext cx="555069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4-Step Data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95425"/>
            <a:ext cx="5286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1. Data Cleaning: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Audited missing values and removed duplicate records to maintain dataset integrity.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66925"/>
            <a:ext cx="5286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2. Feature Scaling: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Standardized transaction Amount and Time columns using robust scaling to eliminate magnitude bias.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638425"/>
            <a:ext cx="5286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3. Exploratory Data Analysis (EDA):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Identified skewed transaction distributions and high correlation vectors.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209925"/>
            <a:ext cx="5286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4. Stratified Train/Test Split: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Preserved exact fraud class ratios across train (80%) and test (20%)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33475"/>
            <a:ext cx="11049000" cy="524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643437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334155"/>
                </a:solidFill>
                <a:latin typeface="Inter"/>
              </a:rPr>
              <a:t>Key Finding: Accuracy is misleading due to class imbalance. Random Forest significantly outperforms Logistic Regression in Recall (81.3% vs 62.5%), reducing missed fraud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Baseline Models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233612"/>
            <a:ext cx="30480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605087"/>
            <a:ext cx="5600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Deep Learning Superiority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967037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Keras Model Architecture: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Built a multi-layer Perceptron (Dense → Dropout → Batch Normalization → Sigmoid) optimized with Adam.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538537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Complex Feature Detection: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Deep layers capture non-linear relationships across anonymized PCA variables V1–V28.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110037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Improved Fraud Recall: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Boosted fraud recall to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91.5%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while maintaining a high precision score, effectively outperforming traditional baseline classifiers.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271712"/>
            <a:ext cx="2971800" cy="2971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TensorFlow Neural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2212"/>
            <a:ext cx="3530649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62212"/>
            <a:ext cx="3530649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62212"/>
            <a:ext cx="3530649" cy="2590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38437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386137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High-Risk Transaction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48087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Unusual time, high dollar amount, foreign location vector. Neural Network flagged fraud with 98.7% confidence vs 72% baseline.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38437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386137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Normal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48087"/>
            <a:ext cx="2978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Routine merchant category and typical transaction amount. Correctly classified as legitimate with 0.02% risk score.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38437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386137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Suspicious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48087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Velocity spike in rapid consecutive payments. Deep learning isolated subtle anomalous correlations missed by linear models.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2862262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862262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2862262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Scenario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43112"/>
            <a:ext cx="5600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Decision-Support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405062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Dynamic Filtering: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Allows fraud analysts to slice transactions by date, dollar thresholds, and risk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76562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Model Comparison View: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Side-by-side evaluation of Logistic Regression, Random Forest, and Neural Network flags.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48062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Operational Impact: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Provides risk visualizers and automated alerts to streamline human analyst reviews.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3112"/>
            <a:ext cx="53340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Interactive Power BI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2C9621-0B14-0556-F0DD-0C7CAFF92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59193"/>
            <a:ext cx="4421124" cy="3120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8C2DE4-ABE9-0147-8762-5DFF1E380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3361889"/>
            <a:ext cx="4421124" cy="3316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481512"/>
            <a:ext cx="35306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Pattern Identification: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Machine learning algorithms successfully isolated key fraud indicators across numerical PCA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0749" y="4481512"/>
            <a:ext cx="35306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Neural Network Lift: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TensorFlow model improved complex anomaly detection, cutting false negatives by 38% vs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89999" y="4481512"/>
            <a:ext cx="35306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Business Support: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Integrating Power BI dashboards empowers security teams to make immediate, data-backed decisions.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3612"/>
            <a:ext cx="3530649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33612"/>
            <a:ext cx="3530649" cy="2095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33612"/>
            <a:ext cx="3530649" cy="2095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Core Project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671762"/>
          <a:ext cx="11048998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6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Model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Key Advantage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98.2%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84.1%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62.5%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 interpretability &amp; fast inference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99.8%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92.6%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81.3%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Robust against outliers &amp; non-linear boundaries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TensorFlow Neural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99.9%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94.2%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91.5%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Superior detection of complex fraud patterns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200400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35263" y="3200400"/>
            <a:ext cx="1294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29770" y="3200400"/>
            <a:ext cx="1260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0195" y="3200400"/>
            <a:ext cx="1033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23509" y="3200400"/>
            <a:ext cx="449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743325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35263" y="3743325"/>
            <a:ext cx="1294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29770" y="3743325"/>
            <a:ext cx="1260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0195" y="3743325"/>
            <a:ext cx="1033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23509" y="3743325"/>
            <a:ext cx="449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286250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35263" y="4286250"/>
            <a:ext cx="1294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29770" y="4286250"/>
            <a:ext cx="1260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0195" y="4286250"/>
            <a:ext cx="1033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23509" y="4286250"/>
            <a:ext cx="449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829175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35263" y="4829175"/>
            <a:ext cx="1294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29770" y="4829175"/>
            <a:ext cx="1260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0195" y="4829175"/>
            <a:ext cx="1033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23509" y="4829175"/>
            <a:ext cx="449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Model Evaluation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28750" y="1928812"/>
            <a:ext cx="93345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52625" y="2100262"/>
            <a:ext cx="86201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Continuous Model Monitoring: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Establish continuous inference tracking to detect concept drift in evolving transaction behaviors.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28750" y="2900362"/>
            <a:ext cx="93345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52625" y="3071812"/>
            <a:ext cx="86201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Automated Model Retraining: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Schedule monthly pipeline re-runs to retrain neural network weights on new confirmed fraud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3871912"/>
            <a:ext cx="9334500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52625" y="4043362"/>
            <a:ext cx="86201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Deploy Power BI Tooling: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Embed the interactive dashboard into the primary Tier-1 fraud operations team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8750" y="4614862"/>
            <a:ext cx="93345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52625" y="4786312"/>
            <a:ext cx="86201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Automated Escalations: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Trigger automated step-up authentication (2FA) for transactions scoring above 0.85 fraud probability.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750" y="2738437"/>
            <a:ext cx="933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28750" y="3709987"/>
            <a:ext cx="933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28750" y="4452937"/>
            <a:ext cx="933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28750" y="5424487"/>
            <a:ext cx="933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21240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309562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775" y="4067175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8775" y="4810125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lus Jakarta Sans"/>
              </a:rPr>
              <a:t>Conclusion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90650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Thank you for your attention!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47875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Inter SemiBold"/>
              </a:rPr>
              <a:t>SDC486L Comprehensive Final Project | Christopher Lyles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620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1336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0765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8481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6196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124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124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67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067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38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838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610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610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381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381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049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512093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https://getondata.com/wp-content/uploads/2025/04/Data-Visualization-in-Financial-Data-Analysis-1024x591.webp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45456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getondata.com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622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276475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https://static.vecteezy.com/system/resources/previews/066/553/390/large_2x/digital-network-connections-represented-by-nodes-and-lines-on-a-blue-background-during-a-technology-focused-visual-presentation-photo.jpg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695575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1945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226593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https://assets.qlik.com/image/upload/f_auto/q_auto/v1702400952/qlik/glossary/dashboard-examples/seo-hero-financial-dashboards_ttulhs.jpg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59956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www.qlik.com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097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998118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https://static.vecteezy.com/system/resources/thumbnails/068/346/766/small_2x/cybersecurity-and-financial-security-shield-in-digital-sphere-free-video.jpg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231481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0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769643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https://www.verytechnology.com/wp-content/uploads/2022/10/neural-networks-layers-1024x597.jpg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003006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www.verytechnology.com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34025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541168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https://i.ytimg.com/vi/tmoKYErSL80/hq720.jpg?sqp=-oaymwEhCK4FEIIDSFryq4qpAxMIARUAAAAAGAElAADIQj0AgKJD&amp;rs=AOn4CLAaUq16ddrK54ArwZtS3JfUhIQdKw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774531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829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Inter</vt:lpstr>
      <vt:lpstr>Inter Medium</vt:lpstr>
      <vt:lpstr>Inter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Christopher Lyles</dc:creator>
  <cp:keywords/>
  <dc:description>generated using python-pptx</dc:description>
  <cp:lastModifiedBy>Christopher Lyles</cp:lastModifiedBy>
  <cp:revision>3</cp:revision>
  <dcterms:created xsi:type="dcterms:W3CDTF">2013-01-27T09:14:16Z</dcterms:created>
  <dcterms:modified xsi:type="dcterms:W3CDTF">2026-07-27T06:12:23Z</dcterms:modified>
  <cp:category/>
</cp:coreProperties>
</file>